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83" r:id="rId2"/>
    <p:sldId id="257" r:id="rId3"/>
    <p:sldId id="282" r:id="rId4"/>
    <p:sldId id="284" r:id="rId5"/>
    <p:sldId id="285" r:id="rId6"/>
    <p:sldId id="281" r:id="rId7"/>
    <p:sldId id="279" r:id="rId8"/>
    <p:sldId id="262" r:id="rId9"/>
    <p:sldId id="264" r:id="rId10"/>
    <p:sldId id="278" r:id="rId11"/>
    <p:sldId id="286" r:id="rId12"/>
    <p:sldId id="287" r:id="rId13"/>
    <p:sldId id="280" r:id="rId14"/>
    <p:sldId id="276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86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0A8E369-C804-D8D2-383B-03E8A5478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168FC73D-F867-8E13-0025-1B40818921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449581B4-9B47-7782-B749-078618A6E5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5151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4.wmf"/><Relationship Id="rId4" Type="http://schemas.openxmlformats.org/officeDocument/2006/relationships/oleObject" Target="../embeddings/oleObject1.bin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 dirty="0"/>
              <a:t>IBM University Engagement Project Submission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 dirty="0"/>
              <a:t>“Exploring the Power of Agentic AI with IBM Granite and </a:t>
            </a:r>
            <a:r>
              <a:rPr lang="en-US" b="1" i="1" dirty="0" err="1"/>
              <a:t>LangFlow</a:t>
            </a:r>
            <a:r>
              <a:rPr lang="en-US" b="1" i="1" dirty="0"/>
              <a:t>”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1264060258"/>
              </p:ext>
            </p:extLst>
          </p:nvPr>
        </p:nvGraphicFramePr>
        <p:xfrm>
          <a:off x="1299257" y="260031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Faculty Name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Nitin Tripathi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nitintripathi79@gmail.com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8373911665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[Food]</a:t>
            </a:r>
            <a:endParaRPr lang="en-IN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Tile – [Thai Recipe Guidance]</a:t>
            </a:r>
            <a:endParaRPr lang="en-IN" sz="24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647789" y="1234440"/>
            <a:ext cx="1051327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b="1" dirty="0"/>
              <a:t>Problem Statement : Thai Recipe Agent</a:t>
            </a:r>
            <a:r>
              <a:rPr lang="en-US" dirty="0"/>
              <a:t> </a:t>
            </a:r>
          </a:p>
          <a:p>
            <a:pPr fontAlgn="base"/>
            <a:endParaRPr lang="en-US" b="1" dirty="0"/>
          </a:p>
          <a:p>
            <a:r>
              <a:rPr lang="en-US" b="0" u="none" strike="noStrike" dirty="0">
                <a:effectLst/>
                <a:latin typeface="Google Sans"/>
              </a:rPr>
              <a:t>Develop an AI-powered conversational agent that provides users with authentic Thai cooking instructions, ingredient insights, substitutions, and culinary context, acting as a personal, knowledgeable Thai cooking assistant .</a:t>
            </a:r>
          </a:p>
          <a:p>
            <a:r>
              <a:rPr lang="en-US" b="1" u="none" strike="noStrike" dirty="0">
                <a:effectLst/>
                <a:latin typeface="Google Sans"/>
              </a:rPr>
              <a:t>Key Challenges to Address</a:t>
            </a:r>
            <a:endParaRPr lang="en-US" b="0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Authenticity and Standardization:</a:t>
            </a:r>
            <a:r>
              <a:rPr lang="en-US" b="0" u="none" strike="noStrike" dirty="0">
                <a:effectLst/>
                <a:latin typeface="Google Sans"/>
              </a:rPr>
              <a:t> Navigating the lack of standardized definitions in Thai cuisine to provide authentic, high-quality recipes rather than diluted interpretations 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Regional Diversity:</a:t>
            </a:r>
            <a:r>
              <a:rPr lang="en-US" b="0" u="none" strike="noStrike" dirty="0">
                <a:effectLst/>
                <a:latin typeface="Google Sans"/>
              </a:rPr>
              <a:t> Recognizing that Thai food varies significantly across four main regions (North, Northeast, Central, South), each with unique ingredients and traditions.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Dynamic Ingredient Management:</a:t>
            </a:r>
            <a:r>
              <a:rPr lang="en-US" b="0" u="none" strike="noStrike" dirty="0">
                <a:effectLst/>
                <a:latin typeface="Google Sans"/>
              </a:rPr>
              <a:t> Solving the issue of missing ingredients by recommending appropriate, authentic substitutes based on taste, smell, and texture (e.g., swapping out shallots for red onions or lime for tamarind).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Balancing Flavors:</a:t>
            </a:r>
            <a:r>
              <a:rPr lang="en-US" b="0" u="none" strike="noStrike" dirty="0">
                <a:effectLst/>
                <a:latin typeface="Google Sans"/>
              </a:rPr>
              <a:t> Assisting users in balancing the five fundamental Thai tastes: salty, sweet, sour, spicy, and creamy.</a:t>
            </a:r>
          </a:p>
          <a:p>
            <a:r>
              <a:rPr lang="en-US" b="1" u="none" strike="noStrike" dirty="0">
                <a:effectLst/>
                <a:latin typeface="Google Sans"/>
              </a:rPr>
              <a:t>Core Functionalities of the Agent</a:t>
            </a:r>
            <a:endParaRPr lang="en-US" b="0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Knowledge Retrieval:</a:t>
            </a:r>
            <a:r>
              <a:rPr lang="en-US" b="0" u="none" strike="noStrike" dirty="0">
                <a:effectLst/>
                <a:latin typeface="Google Sans"/>
              </a:rPr>
              <a:t> Utilizing a specialized knowledge base of authentic recipes.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Natural Language Interaction:</a:t>
            </a:r>
            <a:r>
              <a:rPr lang="en-US" b="0" u="none" strike="noStrike" dirty="0">
                <a:effectLst/>
                <a:latin typeface="Google Sans"/>
              </a:rPr>
              <a:t> Answering questions such as "How do I make authentic Pad Thai?" or "What's the difference between red and green curry?".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Ingredient Substitutions:</a:t>
            </a:r>
            <a:r>
              <a:rPr lang="en-US" b="0" u="none" strike="noStrike" dirty="0">
                <a:effectLst/>
                <a:latin typeface="Google Sans"/>
              </a:rPr>
              <a:t> Suggesting alternatives based on availability.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Technique Guidance:</a:t>
            </a:r>
            <a:r>
              <a:rPr lang="en-US" b="0" u="none" strike="noStrike" dirty="0">
                <a:effectLst/>
                <a:latin typeface="Google Sans"/>
              </a:rPr>
              <a:t> Explaining, for example, how to prevent coconut milk from separating in curry.</a:t>
            </a:r>
          </a:p>
          <a:p>
            <a:r>
              <a:rPr lang="en-US" b="1" u="none" strike="noStrike" dirty="0">
                <a:effectLst/>
                <a:latin typeface="Google Sans"/>
              </a:rPr>
              <a:t>Potential Use Cases</a:t>
            </a:r>
            <a:endParaRPr lang="en-US" b="0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Home Cooking Assistant:</a:t>
            </a:r>
            <a:r>
              <a:rPr lang="en-US" b="0" u="none" strike="noStrike" dirty="0">
                <a:effectLst/>
                <a:latin typeface="Google Sans"/>
              </a:rPr>
              <a:t> Helping users prepare meals by providing step-by-step guidance.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Learning Platform:</a:t>
            </a:r>
            <a:r>
              <a:rPr lang="en-US" b="0" u="none" strike="noStrike" dirty="0">
                <a:effectLst/>
                <a:latin typeface="Google Sans"/>
              </a:rPr>
              <a:t> Educating users on the history and culture behind dishes like Tom Yum.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Meal Planner:</a:t>
            </a:r>
            <a:r>
              <a:rPr lang="en-US" b="0" u="none" strike="noStrike" dirty="0">
                <a:effectLst/>
                <a:latin typeface="Google Sans"/>
              </a:rPr>
              <a:t> Assisting in ingredient sourcing and meal planning based on dietary preferences (e.g., vegan/vegetarian adaptations).</a:t>
            </a:r>
          </a:p>
          <a:p>
            <a:r>
              <a:rPr lang="en-US" b="1" u="none" strike="noStrike" dirty="0">
                <a:effectLst/>
                <a:latin typeface="Google Sans"/>
              </a:rPr>
              <a:t>Expected Outcome</a:t>
            </a:r>
            <a:br>
              <a:rPr lang="en-US" b="0" u="none" strike="noStrike" dirty="0">
                <a:effectLst/>
                <a:latin typeface="Google Sans"/>
              </a:rPr>
            </a:br>
            <a:r>
              <a:rPr lang="en-US" b="0" u="none" strike="noStrike" dirty="0">
                <a:effectLst/>
                <a:latin typeface="Google Sans"/>
              </a:rPr>
              <a:t>A robust, interactive agent that enhances the user's ability to cook authentic Thai food at home, effectively bridging the gap between traditional recipes and modern convenience</a:t>
            </a:r>
          </a:p>
          <a:p>
            <a:pPr fontAlgn="base"/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Problem Statement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77E81F-021A-57FB-C709-7E7075649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CFCB91-EF22-EB8C-5B0D-4D46021F0245}"/>
              </a:ext>
            </a:extLst>
          </p:cNvPr>
          <p:cNvSpPr txBox="1"/>
          <p:nvPr/>
        </p:nvSpPr>
        <p:spPr>
          <a:xfrm>
            <a:off x="685800" y="1165753"/>
            <a:ext cx="1060704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endParaRPr lang="en-US" b="1" dirty="0"/>
          </a:p>
          <a:p>
            <a:pPr fontAlgn="base"/>
            <a:r>
              <a:rPr lang="en-IN" b="1" dirty="0"/>
              <a:t>Tech Stack (Mandatory)</a:t>
            </a:r>
            <a:r>
              <a:rPr lang="en-IN" dirty="0"/>
              <a:t> </a:t>
            </a:r>
          </a:p>
          <a:p>
            <a:pPr fontAlgn="base"/>
            <a:r>
              <a:rPr lang="en-IN" dirty="0"/>
              <a:t>Use </a:t>
            </a:r>
            <a:r>
              <a:rPr lang="en-IN" b="1" dirty="0"/>
              <a:t>any one</a:t>
            </a:r>
            <a:r>
              <a:rPr lang="en-IN" dirty="0"/>
              <a:t> of the following approaches: 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IN" dirty="0" err="1"/>
              <a:t>LangFlow</a:t>
            </a:r>
            <a:r>
              <a:rPr lang="en-IN" dirty="0"/>
              <a:t> + IBM watsonx.ai + Granite Models </a:t>
            </a:r>
          </a:p>
          <a:p>
            <a:pPr fontAlgn="base"/>
            <a:endParaRPr lang="en-IN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IN" dirty="0"/>
          </a:p>
          <a:p>
            <a:pPr fontAlgn="base"/>
            <a:endParaRPr lang="en-IN" dirty="0"/>
          </a:p>
          <a:p>
            <a:pPr fontAlgn="base"/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926A1-0833-2949-651F-2AAB4D91A8C9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 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4218467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234440"/>
            <a:ext cx="10607040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endParaRPr lang="en-US" b="1" dirty="0"/>
          </a:p>
          <a:p>
            <a:r>
              <a:rPr lang="en-US" sz="1800" b="1" dirty="0"/>
              <a:t>Proposed Solution: Thai Recipe Agent</a:t>
            </a:r>
          </a:p>
          <a:p>
            <a:r>
              <a:rPr lang="en-US" sz="1800" b="0" u="none" strike="noStrike" dirty="0">
                <a:effectLst/>
                <a:latin typeface="Google Sans"/>
              </a:rPr>
              <a:t>Thai recipes focus on balancing the five core flavors—</a:t>
            </a:r>
            <a:r>
              <a:rPr lang="en-US" sz="1800" b="1" u="none" strike="noStrike" dirty="0">
                <a:effectLst/>
                <a:latin typeface="Google Sans"/>
              </a:rPr>
              <a:t>sour, bitter, salty, sweet, and spicy</a:t>
            </a:r>
            <a:r>
              <a:rPr lang="en-US" sz="1800" b="0" u="none" strike="noStrike" dirty="0">
                <a:effectLst/>
                <a:latin typeface="Google Sans"/>
              </a:rPr>
              <a:t>—using accessible ingredients while maintaining authenticity . Key solutions for common challenges include using curry paste to build flavor, managing heat levels, and utilizing fresh herbs for aroma.</a:t>
            </a:r>
          </a:p>
          <a:p>
            <a:r>
              <a:rPr lang="en-US" sz="1800" b="1" u="none" strike="noStrike" dirty="0">
                <a:effectLst/>
                <a:latin typeface="Google Sans"/>
              </a:rPr>
              <a:t>Key Solutions for Authentic Thai Cooking</a:t>
            </a:r>
            <a:endParaRPr lang="en-US" sz="1800" b="0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Balancing Flavors:</a:t>
            </a:r>
            <a:r>
              <a:rPr lang="en-US" sz="1800" b="0" u="none" strike="noStrike" dirty="0">
                <a:effectLst/>
                <a:latin typeface="Google Sans"/>
              </a:rPr>
              <a:t> The core of Thai cuisine is balancing lime (sour), fish sauce (salty), palm sugar (sweet), and chilies (spicy) 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The Secret Weapon (Nam </a:t>
            </a:r>
            <a:r>
              <a:rPr lang="en-US" sz="1800" b="1" u="none" strike="noStrike" dirty="0" err="1">
                <a:effectLst/>
                <a:latin typeface="Google Sans"/>
              </a:rPr>
              <a:t>Prik</a:t>
            </a:r>
            <a:r>
              <a:rPr lang="en-US" sz="1800" b="1" u="none" strike="noStrike" dirty="0">
                <a:effectLst/>
                <a:latin typeface="Google Sans"/>
              </a:rPr>
              <a:t> Pao):</a:t>
            </a:r>
            <a:r>
              <a:rPr lang="en-US" sz="1800" b="0" u="none" strike="noStrike" dirty="0">
                <a:effectLst/>
                <a:latin typeface="Google Sans"/>
              </a:rPr>
              <a:t> Thai chili paste (</a:t>
            </a:r>
            <a:r>
              <a:rPr lang="en-US" sz="1800" b="0" u="none" strike="noStrike" dirty="0" err="1">
                <a:effectLst/>
                <a:latin typeface="Google Sans"/>
              </a:rPr>
              <a:t>nam</a:t>
            </a:r>
            <a:r>
              <a:rPr lang="en-US" sz="1800" b="0" u="none" strike="noStrike" dirty="0">
                <a:effectLst/>
                <a:latin typeface="Google Sans"/>
              </a:rPr>
              <a:t> </a:t>
            </a:r>
            <a:r>
              <a:rPr lang="en-US" sz="1800" b="0" u="none" strike="noStrike" dirty="0" err="1">
                <a:effectLst/>
                <a:latin typeface="Google Sans"/>
              </a:rPr>
              <a:t>prik</a:t>
            </a:r>
            <a:r>
              <a:rPr lang="en-US" sz="1800" b="0" u="none" strike="noStrike" dirty="0">
                <a:effectLst/>
                <a:latin typeface="Google Sans"/>
              </a:rPr>
              <a:t> pao) can be added to fried rice and stir-fries to provide instant sweet umami flavor, notes.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Making Curry Paste:</a:t>
            </a:r>
            <a:r>
              <a:rPr lang="en-US" sz="1800" b="0" u="none" strike="noStrike" dirty="0">
                <a:effectLst/>
                <a:latin typeface="Google Sans"/>
              </a:rPr>
              <a:t> For Green Curry, making paste from scratch using green chilies, lemongrass, galangal, makrut lime peel, and shrimp paste is recommended for better texture.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Adjusting Spice Level:</a:t>
            </a:r>
            <a:r>
              <a:rPr lang="en-US" sz="1800" b="0" u="none" strike="noStrike" dirty="0">
                <a:effectLst/>
                <a:latin typeface="Google Sans"/>
              </a:rPr>
              <a:t> If a curry is too hot, mellow it by adding fat (coconut milk), sugar, or acidity (lime juice).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Easy Ingredient Substitutions:</a:t>
            </a:r>
            <a:r>
              <a:rPr lang="en-US" sz="1800" b="0" u="none" strike="noStrike" dirty="0">
                <a:effectLst/>
                <a:latin typeface="Google Sans"/>
              </a:rPr>
              <a:t> If palm sugar is unavailable, use brown sugar. If galangal is unavailable, use ginger (though it will change the flavor slightly).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Simplifying Pad Thai:</a:t>
            </a:r>
            <a:r>
              <a:rPr lang="en-US" sz="1800" b="0" u="none" strike="noStrike" dirty="0">
                <a:effectLst/>
                <a:latin typeface="Google Sans"/>
              </a:rPr>
              <a:t> Instead of complex traditional methods, use tamarind paste, fish sauce, and palm sugar for the base sauce.</a:t>
            </a:r>
          </a:p>
          <a:p>
            <a:pPr fontAlgn="base"/>
            <a:endParaRPr lang="en-US" sz="1800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Proposed Solution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 err="1">
                <a:sym typeface="Times New Roman"/>
              </a:rPr>
              <a:t>Langflow</a:t>
            </a: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>
                <a:sym typeface="Times New Roman"/>
              </a:rPr>
              <a:t>component Used -</a:t>
            </a:r>
            <a:endParaRPr sz="2400" b="1" dirty="0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474822" y="863187"/>
            <a:ext cx="8758825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b="1" dirty="0"/>
              <a:t>1) Chat Input </a:t>
            </a:r>
            <a:r>
              <a:rPr lang="en-US" dirty="0"/>
              <a:t>– Interface where users enter their queries, preferences, or meal details (text/voice/image).</a:t>
            </a:r>
          </a:p>
          <a:p>
            <a:endParaRPr lang="en-US" dirty="0"/>
          </a:p>
          <a:p>
            <a:r>
              <a:rPr lang="en-US" b="1" dirty="0"/>
              <a:t>2) IBM </a:t>
            </a:r>
            <a:r>
              <a:rPr lang="en-US" b="1" dirty="0" err="1"/>
              <a:t>watsonx</a:t>
            </a:r>
            <a:r>
              <a:rPr lang="en-US" b="1" dirty="0"/>
              <a:t> AI Agent </a:t>
            </a:r>
            <a:r>
              <a:rPr lang="en-US" dirty="0"/>
              <a:t>- Processes user input using Granite models to generate personalized nutrition insights and recommendations. </a:t>
            </a:r>
          </a:p>
          <a:p>
            <a:endParaRPr lang="en-US" dirty="0"/>
          </a:p>
          <a:p>
            <a:r>
              <a:rPr lang="en-US" b="1" dirty="0"/>
              <a:t>3) Name of IBM Granite model – </a:t>
            </a:r>
            <a:r>
              <a:rPr lang="en-US" dirty="0" err="1"/>
              <a:t>ibm</a:t>
            </a:r>
            <a:r>
              <a:rPr lang="en-US" dirty="0"/>
              <a:t>/granite-4-h-small → Fast, efficient for real-time diet recommendations</a:t>
            </a:r>
          </a:p>
          <a:p>
            <a:endParaRPr lang="en-US" dirty="0"/>
          </a:p>
          <a:p>
            <a:r>
              <a:rPr lang="en-US" b="1" dirty="0"/>
              <a:t>4) Chat output -</a:t>
            </a:r>
            <a:r>
              <a:rPr lang="en-US" dirty="0"/>
              <a:t>Displays AI-generated responses such as diet plans, nutritional analysis, and health suggestions. </a:t>
            </a:r>
          </a:p>
          <a:p>
            <a:endParaRPr lang="en-US" dirty="0"/>
          </a:p>
          <a:p>
            <a:r>
              <a:rPr lang="en-US" b="1" dirty="0"/>
              <a:t>5) File component - </a:t>
            </a:r>
            <a:r>
              <a:rPr lang="en-US" dirty="0"/>
              <a:t>Stores and retrieves user data, meal logs, and nutritional datasets for analysis and tracking.</a:t>
            </a:r>
          </a:p>
          <a:p>
            <a:endParaRPr lang="en-US" dirty="0"/>
          </a:p>
          <a:p>
            <a:pPr marL="342900" indent="-342900">
              <a:buAutoNum type="arabicParenR" startAt="3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 err="1">
                <a:sym typeface="Times New Roman"/>
              </a:rPr>
              <a:t>Langflow</a:t>
            </a: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>
                <a:sym typeface="Times New Roman"/>
              </a:rPr>
              <a:t>workflow -</a:t>
            </a:r>
            <a:endParaRPr sz="2400" b="1" dirty="0">
              <a:sym typeface="Times New Roma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3AF5A7-CFBF-45DA-A7F4-895C2117F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776"/>
            <a:ext cx="12192000" cy="5918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9152" y="1071448"/>
            <a:ext cx="10429095" cy="561281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Role of Agentic AI in the solution </a:t>
            </a:r>
            <a:endParaRPr lang="en-IN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Role of Agentic AI in Thai Recipe Agent</a:t>
            </a:r>
          </a:p>
          <a:p>
            <a:r>
              <a:rPr lang="en-US" sz="1800" b="0" u="none" strike="noStrike" dirty="0">
                <a:effectLst/>
                <a:latin typeface="Google Sans"/>
              </a:rPr>
              <a:t>Agentic AI in a Thai Recipe Agent elevates it from a passive recipe database into an </a:t>
            </a:r>
            <a:r>
              <a:rPr lang="en-US" sz="1800" b="1" u="none" strike="noStrike" dirty="0">
                <a:effectLst/>
                <a:latin typeface="Google Sans"/>
              </a:rPr>
              <a:t>autonomous kitchen assistant</a:t>
            </a:r>
            <a:r>
              <a:rPr lang="en-US" sz="1800" b="0" u="none" strike="noStrike" dirty="0">
                <a:effectLst/>
                <a:latin typeface="Google Sans"/>
              </a:rPr>
              <a:t> that plans, acts, and learns, mimicking the skills of a Thai chef rather than just searching for text . While generative AI might create a recipe, an agentic system executes the entire workflow, from checking inventory to adapting flavors.</a:t>
            </a:r>
          </a:p>
          <a:p>
            <a:r>
              <a:rPr lang="en-US" sz="1800" b="0" u="none" strike="noStrike" dirty="0">
                <a:effectLst/>
                <a:latin typeface="Google Sans"/>
              </a:rPr>
              <a:t>Here is the role of Agentic AI in a Thai Recipe Agent:</a:t>
            </a:r>
          </a:p>
          <a:p>
            <a:r>
              <a:rPr lang="en-US" sz="1800" b="1" u="none" strike="noStrike" dirty="0">
                <a:effectLst/>
                <a:latin typeface="Google Sans"/>
              </a:rPr>
              <a:t>. Goal-Oriented Planning and Reasoning</a:t>
            </a:r>
          </a:p>
          <a:p>
            <a:r>
              <a:rPr lang="en-US" sz="1800" b="0" u="none" strike="noStrike" dirty="0">
                <a:effectLst/>
                <a:latin typeface="Google Sans"/>
              </a:rPr>
              <a:t>Instead of providing a one-off recipe, an agentic Thai assistant breaks down complex goals.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Menu Planning:</a:t>
            </a:r>
            <a:r>
              <a:rPr lang="en-US" sz="1800" b="0" u="none" strike="noStrike" dirty="0">
                <a:effectLst/>
                <a:latin typeface="Google Sans"/>
              </a:rPr>
              <a:t> You ask for a "complete Northern Thai dinner." The agent plans courses that balance flavors and textures (e.g., pairing Khao Soi with sour pickles) 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Constraint Handling:</a:t>
            </a:r>
            <a:r>
              <a:rPr lang="en-US" sz="1800" b="0" u="none" strike="noStrike" dirty="0">
                <a:effectLst/>
                <a:latin typeface="Google Sans"/>
              </a:rPr>
              <a:t> The agent respects limitations, such as finding a "dairy-free, low-sodium Tom Yum" or adjusting for available ingredients (e.g., substituting Thai basil for Holy basil)</a:t>
            </a:r>
          </a:p>
          <a:p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 err="1"/>
              <a:t>Langflow</a:t>
            </a:r>
            <a:r>
              <a:rPr lang="en-US" sz="1800" b="1" dirty="0"/>
              <a:t> platform </a:t>
            </a:r>
            <a:r>
              <a:rPr lang="en-US" sz="1800" dirty="0"/>
              <a:t>-For designing and orchestrating multi-agent workflows visually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</a:t>
            </a:r>
            <a:r>
              <a:rPr lang="en-US" sz="1800" b="1" dirty="0" err="1"/>
              <a:t>Grainte</a:t>
            </a:r>
            <a:r>
              <a:rPr lang="en-US" sz="1800" b="1" dirty="0"/>
              <a:t> model </a:t>
            </a:r>
            <a:r>
              <a:rPr lang="en-US" sz="1800" dirty="0"/>
              <a:t>-  for </a:t>
            </a:r>
            <a:r>
              <a:rPr lang="en-US" sz="1800" dirty="0" err="1"/>
              <a:t>eg</a:t>
            </a:r>
            <a:r>
              <a:rPr lang="en-US" sz="1800" dirty="0"/>
              <a:t> – ibm-granite-4h-small – For natural language understanding, reasoning, and personalization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Cloud </a:t>
            </a:r>
            <a:r>
              <a:rPr lang="en-US" sz="1800" dirty="0"/>
              <a:t>– It provides the infrastructure to build, deploy, and scale the Nutrition Agent efficiently. IBM Cloud enables a </a:t>
            </a:r>
            <a:r>
              <a:rPr lang="en-US" sz="1800" b="1" dirty="0"/>
              <a:t>reliable, secure, and scalable environment</a:t>
            </a:r>
            <a:r>
              <a:rPr lang="en-US" sz="1800" dirty="0"/>
              <a:t> for deploying the Nutrition Agent.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RAG– </a:t>
            </a:r>
            <a:r>
              <a:rPr lang="en-US" sz="1800" dirty="0"/>
              <a:t>RAG to </a:t>
            </a:r>
            <a:r>
              <a:rPr lang="en-US" sz="1800" b="1" dirty="0"/>
              <a:t>fetch real data first, then generate intelligent answers</a:t>
            </a:r>
            <a:r>
              <a:rPr lang="en-US" sz="1800" dirty="0"/>
              <a:t>, making the Nutrition Agent more trustworthy and effective.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Watsonx.ai - </a:t>
            </a:r>
            <a:r>
              <a:rPr lang="en-US" sz="1800" dirty="0"/>
              <a:t>For model deployment, embeddings, and AI governance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Novelty and Uniqueness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/>
              <a:t>The proposed Nutrition Agent stands out by combining </a:t>
            </a:r>
            <a:r>
              <a:rPr lang="en-IN" sz="1800" b="1" dirty="0"/>
              <a:t>Agentic AI, RAG, and personalization</a:t>
            </a:r>
            <a:r>
              <a:rPr lang="en-IN" sz="1800" dirty="0"/>
              <a:t> into a single intelligent system.</a:t>
            </a:r>
          </a:p>
          <a:p>
            <a:endParaRPr lang="en-IN" sz="1800" dirty="0"/>
          </a:p>
          <a:p>
            <a:r>
              <a:rPr lang="en-IN" sz="1800" b="1" dirty="0"/>
              <a:t>Single-Agent Intelligence</a:t>
            </a:r>
            <a:r>
              <a:rPr lang="en-IN" sz="1800" dirty="0"/>
              <a:t> –single chatbot, agents collaborate to deliver accurate and context-aware Recipe. </a:t>
            </a:r>
          </a:p>
          <a:p>
            <a:r>
              <a:rPr lang="en-IN" sz="1800" b="1" dirty="0"/>
              <a:t>RAG-Based Accuracy</a:t>
            </a:r>
            <a:r>
              <a:rPr lang="en-IN" sz="1800" dirty="0"/>
              <a:t> – Integrates real-time data retrieval with AI generation, reducing misinformation and ensuring trustworthy recommendations. </a:t>
            </a:r>
          </a:p>
          <a:p>
            <a:r>
              <a:rPr lang="en-IN" sz="1800" b="1" dirty="0"/>
              <a:t>Hyper-Personalization</a:t>
            </a:r>
            <a:r>
              <a:rPr lang="en-IN" sz="1800" dirty="0"/>
              <a:t> – Tailors diet plans based on health conditions, cultural preferences, and fitness goals. </a:t>
            </a:r>
          </a:p>
          <a:p>
            <a:r>
              <a:rPr lang="en-IN" sz="1800" b="1" dirty="0"/>
              <a:t>Real-Time Feedback Loop</a:t>
            </a:r>
            <a:r>
              <a:rPr lang="en-IN" sz="1800" dirty="0"/>
              <a:t> – Continuously adapts recommendations based on daily food logs and user behaviour. </a:t>
            </a:r>
          </a:p>
          <a:p>
            <a:r>
              <a:rPr lang="en-IN" sz="1800" b="1" dirty="0"/>
              <a:t>Multi-Modal Input</a:t>
            </a:r>
            <a:r>
              <a:rPr lang="en-IN" sz="1800" dirty="0"/>
              <a:t> – Supports text, voice, and image-based meal tracking for better usability. </a:t>
            </a:r>
          </a:p>
          <a:p>
            <a:r>
              <a:rPr lang="en-IN" sz="1800" b="1" dirty="0"/>
              <a:t>Preventive Healthcare Focus</a:t>
            </a:r>
            <a:r>
              <a:rPr lang="en-IN" sz="1800" dirty="0"/>
              <a:t> – Goes beyond diet planning to provide disease-specific nutrition advice. </a:t>
            </a:r>
          </a:p>
          <a:p>
            <a:r>
              <a:rPr lang="en-IN" sz="1800" b="1" dirty="0"/>
              <a:t>Scalable &amp; Enterprise-Ready</a:t>
            </a:r>
            <a:r>
              <a:rPr lang="en-IN" sz="1800" dirty="0"/>
              <a:t> – Built on </a:t>
            </a:r>
            <a:r>
              <a:rPr lang="en-IN" sz="1800" b="1" dirty="0"/>
              <a:t>IBM watsonx.ai</a:t>
            </a:r>
            <a:r>
              <a:rPr lang="en-IN" sz="1800" dirty="0"/>
              <a:t> with </a:t>
            </a:r>
            <a:r>
              <a:rPr lang="en-IN" sz="1800" b="1" dirty="0"/>
              <a:t>IBM Granite models</a:t>
            </a:r>
            <a:r>
              <a:rPr lang="en-IN" sz="1800" dirty="0"/>
              <a:t>, ensuring reliability and governance. </a:t>
            </a:r>
          </a:p>
          <a:p>
            <a:endParaRPr lang="en-IN" sz="1800" dirty="0"/>
          </a:p>
          <a:p>
            <a:r>
              <a:rPr lang="en-IN" sz="1800" dirty="0"/>
              <a:t>This makes the solution a </a:t>
            </a:r>
            <a:r>
              <a:rPr lang="en-IN" sz="1800" b="1" dirty="0"/>
              <a:t>smart, adaptive, and proactive </a:t>
            </a:r>
            <a:r>
              <a:rPr lang="en-IN" sz="1800" b="1" dirty="0" err="1"/>
              <a:t>Recepi</a:t>
            </a:r>
            <a:r>
              <a:rPr lang="en-IN" sz="1800" b="1" dirty="0"/>
              <a:t> Maker</a:t>
            </a:r>
            <a:r>
              <a:rPr lang="en-IN" sz="1800" dirty="0"/>
              <a:t>, not just a static diet recommendation tool.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Git Hub Link (Change Later)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 Please create public </a:t>
            </a:r>
            <a:r>
              <a:rPr lang="en-US" sz="185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(Enable Add README  button while creating repository) with format – 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test and Paste the working 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URL –https://github.com/nitintripathi79/SRMIST_ThaiRecipe_NitinTripathi.git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Make sure you have Uploaded following three files into your </a:t>
            </a:r>
            <a:r>
              <a:rPr lang="en-US" sz="1850" b="1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 </a:t>
            </a:r>
            <a:b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1) Thai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Receipe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Guidance.json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file , 2) Nitin Tripathi Project Submission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867DCA63-71AC-435F-AFB1-824377CC7CC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2644971"/>
              </p:ext>
            </p:extLst>
          </p:nvPr>
        </p:nvGraphicFramePr>
        <p:xfrm>
          <a:off x="92075" y="92075"/>
          <a:ext cx="1838325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Packager Shell Object" showAsIcon="1" r:id="rId4" imgW="1837800" imgH="532800" progId="Package">
                  <p:embed/>
                </p:oleObj>
              </mc:Choice>
              <mc:Fallback>
                <p:oleObj name="Packager Shell Object" showAsIcon="1" r:id="rId4" imgW="1837800" imgH="53280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2075" y="92075"/>
                        <a:ext cx="1838325" cy="533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605851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Future Scope 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592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sz="2000" b="0" u="none" strike="noStrike" dirty="0">
                <a:effectLst/>
                <a:latin typeface="Google Sans"/>
              </a:rPr>
              <a:t>The future scope for a Thai Recipe Agent (AI-powered tool, digital platform, or culinary assistant) is exceptionally strong, driven by the rapid growth of Thailand's culinary tourism market, which is projected to reach USD 179.4 billion by 2034 .</a:t>
            </a:r>
          </a:p>
          <a:p>
            <a:r>
              <a:rPr lang="en-US" sz="2000" b="0" u="none" strike="noStrike" dirty="0">
                <a:effectLst/>
                <a:latin typeface="Google Sans"/>
              </a:rPr>
              <a:t>As Thai cuisine remains a key part of Thailand's soft power, opportunities for AI recipe agents are expanding across the following areas</a:t>
            </a:r>
            <a:br>
              <a:rPr lang="en-US" sz="2000" b="0" u="none" strike="noStrike" dirty="0">
                <a:effectLst/>
                <a:latin typeface="Google Sans"/>
              </a:rPr>
            </a:br>
            <a:endParaRPr lang="en-US" sz="2000" b="0" u="none" strike="noStrike" dirty="0">
              <a:effectLst/>
              <a:latin typeface="Google Sans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/>
              <a:t>AI-Powered Personalization and Smart Recipe Systems.</a:t>
            </a:r>
            <a:br>
              <a:rPr lang="en-US" sz="1800" dirty="0"/>
            </a:br>
            <a:endParaRPr lang="en-US" sz="18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/>
              <a:t> </a:t>
            </a:r>
            <a:r>
              <a:rPr lang="en-US" sz="1800" dirty="0" err="1"/>
              <a:t>Gastrodiplomacy</a:t>
            </a:r>
            <a:r>
              <a:rPr lang="en-US" sz="1800" dirty="0"/>
              <a:t> and Global Expansion.</a:t>
            </a:r>
            <a:br>
              <a:rPr lang="en-US" sz="1800" dirty="0"/>
            </a:br>
            <a:endParaRPr lang="en-US" sz="18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 err="1"/>
              <a:t>FoodTech</a:t>
            </a:r>
            <a:r>
              <a:rPr lang="en-US" sz="1800" dirty="0"/>
              <a:t> and Sustainability.</a:t>
            </a:r>
            <a:br>
              <a:rPr lang="en-US" sz="1800" dirty="0"/>
            </a:br>
            <a:endParaRPr lang="en-US" sz="18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/>
              <a:t>Expansion in Key International Markets.</a:t>
            </a:r>
            <a:br>
              <a:rPr lang="en-US" sz="1800" dirty="0"/>
            </a:br>
            <a:endParaRPr lang="en-US" sz="18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/>
              <a:t>Enhanced Ingredient Accessibility.</a:t>
            </a:r>
          </a:p>
          <a:p>
            <a:endParaRPr lang="en-US" sz="1800" dirty="0"/>
          </a:p>
          <a:p>
            <a:endParaRPr lang="en-US" sz="1800" b="0" u="none" strike="noStrike" dirty="0">
              <a:effectLst/>
              <a:latin typeface="Google Sans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1587</TotalTime>
  <Words>1393</Words>
  <Application>Microsoft Office PowerPoint</Application>
  <PresentationFormat>Widescreen</PresentationFormat>
  <Paragraphs>121</Paragraphs>
  <Slides>14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Google Sans</vt:lpstr>
      <vt:lpstr>Times New Roman</vt:lpstr>
      <vt:lpstr>Wingdings</vt:lpstr>
      <vt:lpstr>Office Theme</vt:lpstr>
      <vt:lpstr>Package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Admin C12</cp:lastModifiedBy>
  <cp:revision>56</cp:revision>
  <dcterms:created xsi:type="dcterms:W3CDTF">2025-07-08T05:06:56Z</dcterms:created>
  <dcterms:modified xsi:type="dcterms:W3CDTF">2026-04-29T08:31:07Z</dcterms:modified>
</cp:coreProperties>
</file>